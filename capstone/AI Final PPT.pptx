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5" r:id="rId6"/>
    <p:sldId id="268" r:id="rId7"/>
    <p:sldId id="270" r:id="rId8"/>
    <p:sldId id="264" r:id="rId9"/>
    <p:sldId id="259" r:id="rId10"/>
    <p:sldId id="260" r:id="rId11"/>
    <p:sldId id="266" r:id="rId12"/>
    <p:sldId id="267" r:id="rId13"/>
    <p:sldId id="261" r:id="rId14"/>
    <p:sldId id="271" r:id="rId15"/>
    <p:sldId id="272" r:id="rId16"/>
    <p:sldId id="273" r:id="rId17"/>
    <p:sldId id="274" r:id="rId18"/>
    <p:sldId id="269" r:id="rId19"/>
    <p:sldId id="263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73072" autoAdjust="0"/>
  </p:normalViewPr>
  <p:slideViewPr>
    <p:cSldViewPr showGuides="1">
      <p:cViewPr varScale="1">
        <p:scale>
          <a:sx n="82" d="100"/>
          <a:sy n="82" d="100"/>
        </p:scale>
        <p:origin x="691" y="96"/>
      </p:cViewPr>
      <p:guideLst>
        <p:guide orient="horz" pos="2880"/>
        <p:guide pos="21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B396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2A2A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B396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rgbClr val="2A2A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B396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1B396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jpe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23850" y="276225"/>
            <a:ext cx="561975" cy="89535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106150" y="257175"/>
            <a:ext cx="876300" cy="8667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92651" y="447040"/>
            <a:ext cx="3806697" cy="518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1B396B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19455" y="1746503"/>
            <a:ext cx="8853170" cy="183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rgbClr val="2A2A2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0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21130" y="1143000"/>
            <a:ext cx="8919845" cy="2232025"/>
          </a:xfrm>
          <a:prstGeom prst="rect">
            <a:avLst/>
          </a:prstGeom>
        </p:spPr>
        <p:txBody>
          <a:bodyPr vert="horz" wrap="square" lIns="0" tIns="160655" rIns="0" bIns="0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1265"/>
              </a:spcBef>
            </a:pPr>
            <a:r>
              <a:rPr lang="en-US" sz="4000" dirty="0"/>
              <a:t>AI-Based Indoor Robot Navigation Using A* Search and Dynamic Obstacle Avoidance</a:t>
            </a:r>
            <a:endParaRPr lang="en-US" altLang="en-US" sz="4000" b="0" spc="-10" dirty="0">
              <a:solidFill>
                <a:schemeClr val="tx1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62275" y="3112770"/>
            <a:ext cx="5507990" cy="2117090"/>
          </a:xfrm>
          <a:prstGeom prst="rect">
            <a:avLst/>
          </a:prstGeom>
        </p:spPr>
        <p:txBody>
          <a:bodyPr vert="horz" wrap="square" lIns="0" tIns="88900" rIns="0" bIns="0" rtlCol="0">
            <a:noAutofit/>
          </a:bodyPr>
          <a:lstStyle/>
          <a:p>
            <a:pPr marL="12700" marR="5080" algn="ctr">
              <a:lnSpc>
                <a:spcPct val="129000"/>
              </a:lnSpc>
              <a:spcBef>
                <a:spcPts val="75"/>
              </a:spcBef>
            </a:pPr>
            <a:r>
              <a:rPr lang="en-US" altLang="en-US" sz="3200" spc="-20" dirty="0">
                <a:solidFill>
                  <a:srgbClr val="666666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CSA1709-Artifical Intelligence</a:t>
            </a:r>
            <a:endParaRPr lang="en-US" altLang="en-US" sz="3200" spc="-20" dirty="0">
              <a:solidFill>
                <a:srgbClr val="666666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05800" y="4171315"/>
            <a:ext cx="3352800" cy="1443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 algn="ctr">
              <a:lnSpc>
                <a:spcPct val="100000"/>
              </a:lnSpc>
              <a:spcBef>
                <a:spcPts val="700"/>
              </a:spcBef>
            </a:pPr>
            <a:r>
              <a:rPr lang="en-IN" b="1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Presented</a:t>
            </a:r>
            <a:r>
              <a:rPr lang="en-IN" b="1" spc="-80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IN" b="1" spc="-25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by:</a:t>
            </a:r>
            <a:endParaRPr lang="en-IN" b="1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2700" marR="5080" algn="ctr">
              <a:lnSpc>
                <a:spcPct val="129000"/>
              </a:lnSpc>
              <a:spcBef>
                <a:spcPts val="75"/>
              </a:spcBef>
            </a:pPr>
            <a:r>
              <a:rPr lang="en-IN" altLang="en-US" spc="-10" dirty="0" err="1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V.Madhulika</a:t>
            </a:r>
            <a:r>
              <a:rPr lang="en-IN" altLang="en-US" spc="-10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(192312620)</a:t>
            </a:r>
            <a:endParaRPr lang="en-IN" altLang="en-US" spc="-10" dirty="0">
              <a:solidFill>
                <a:srgbClr val="66666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2700" marR="5080" algn="ctr">
              <a:lnSpc>
                <a:spcPct val="129000"/>
              </a:lnSpc>
              <a:spcBef>
                <a:spcPts val="75"/>
              </a:spcBef>
            </a:pPr>
            <a:r>
              <a:rPr lang="en-IN" spc="-10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 </a:t>
            </a:r>
            <a:r>
              <a:rPr lang="en-IN" altLang="en-US" spc="-10" dirty="0" err="1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B.Bhavana</a:t>
            </a:r>
            <a:r>
              <a:rPr lang="en-IN" altLang="en-US" spc="-10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(192312428)</a:t>
            </a:r>
            <a:endParaRPr lang="en-IN" altLang="en-US" spc="-10" dirty="0">
              <a:solidFill>
                <a:srgbClr val="66666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pPr marL="12700" marR="5080" algn="ctr">
              <a:lnSpc>
                <a:spcPct val="129000"/>
              </a:lnSpc>
              <a:spcBef>
                <a:spcPts val="75"/>
              </a:spcBef>
            </a:pPr>
            <a:r>
              <a:rPr lang="en-IN" altLang="en-US" spc="-10" dirty="0" err="1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V.Sireesha</a:t>
            </a:r>
            <a:r>
              <a:rPr lang="en-IN" altLang="en-US" spc="-10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(192472208)</a:t>
            </a:r>
            <a:endParaRPr lang="en-IN" altLang="en-US" spc="-10" dirty="0">
              <a:solidFill>
                <a:srgbClr val="66666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950" y="4343400"/>
            <a:ext cx="3219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Guided </a:t>
            </a:r>
            <a:r>
              <a:rPr lang="en-IN" sz="2400" b="1" spc="-25" dirty="0">
                <a:solidFill>
                  <a:srgbClr val="666666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by:</a:t>
            </a:r>
            <a:endParaRPr lang="en-IN" sz="2400" b="1" spc="-25" dirty="0">
              <a:solidFill>
                <a:srgbClr val="666666"/>
              </a:solidFill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2400" spc="-25" dirty="0" err="1">
                <a:solidFill>
                  <a:srgbClr val="666666"/>
                </a:solidFill>
                <a:latin typeface="Times New Roman Regular" panose="02020503050405090304" charset="0"/>
              </a:rPr>
              <a:t>Rajaram.P</a:t>
            </a:r>
            <a:endParaRPr lang="en-IN" sz="2400" dirty="0"/>
          </a:p>
        </p:txBody>
      </p:sp>
      <p:pic>
        <p:nvPicPr>
          <p:cNvPr id="9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192651" y="447040"/>
            <a:ext cx="3806697" cy="50863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39470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+mj-lt"/>
                <a:cs typeface="Times New Roman Regular" panose="02020503050405090304" charset="0"/>
              </a:rPr>
              <a:t>Introduction</a:t>
            </a:r>
            <a:endParaRPr spc="-10" dirty="0">
              <a:latin typeface="+mj-lt"/>
              <a:cs typeface="Times New Roman Regular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400906"/>
            <a:ext cx="7691120" cy="5207000"/>
          </a:xfrm>
          <a:prstGeom prst="rect">
            <a:avLst/>
          </a:prstGeom>
        </p:spPr>
        <p:txBody>
          <a:bodyPr vert="horz" wrap="square" lIns="0" tIns="71120" rIns="0" bIns="0" rtlCol="0"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Indoor robot navigation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is an important application of Artificial Intelligence (AI) that enables robots to move autonomously in environments such as hospitals, warehouses, offices, and smart homes without human intervention.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project uses the A* Search Algorithm, an AI-based path planning technique, to determine the shortest and most efficient route from the starting point to the destination.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 HC-SR04 ultrasonic sensor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continuously detects obstacles in the robot's path, allowing it to identify both static and dynamic obstacles in real time.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Dynamic obstacle avoidance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enables the robot to stop, recalculate its path, and safely navigate around unexpected obstacles, ensuring smooth and collision-free movement.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proposed system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provides fast, accurate, and intelligent navigation with approximately </a:t>
            </a: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95% accuracy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, making it suitable for real-world indoor automation applications while remaining low-cost and easy to implement.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2362199"/>
            <a:ext cx="3124200" cy="3284415"/>
          </a:xfrm>
          <a:prstGeom prst="rect">
            <a:avLst/>
          </a:prstGeom>
        </p:spPr>
      </p:pic>
      <p:pic>
        <p:nvPicPr>
          <p:cNvPr id="8" name="object 2" descr="assets/ses_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9550" y="304835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08966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Objective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1676400"/>
            <a:ext cx="10746105" cy="4383405"/>
          </a:xfrm>
          <a:prstGeom prst="rect">
            <a:avLst/>
          </a:prstGeom>
        </p:spPr>
        <p:txBody>
          <a:bodyPr vert="horz" wrap="square" lIns="0" tIns="71120" rIns="0" bIns="0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design and develop an autonomous indoor robot capable of navigating without human intervention.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implement the A* Search Algorithm for finding the shortest and most efficient path between the start and destination.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detect and avoid static and dynamic obstacles in real time using an HC-SR04 ultrasonic sensor.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achieve safe and collision-free navigation by continuously updating the robot's path based on sensor data.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improve navigation performance by ensuring high accuracy, fast response time, and reliable operation in indoor environments such as hospitals, warehouses, and offices.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pic>
        <p:nvPicPr>
          <p:cNvPr id="7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43400" y="649576"/>
            <a:ext cx="3806697" cy="492443"/>
          </a:xfrm>
        </p:spPr>
        <p:txBody>
          <a:bodyPr/>
          <a:lstStyle/>
          <a:p>
            <a:r>
              <a:rPr lang="en-IN" dirty="0"/>
              <a:t>Problem Statement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990600" y="1524000"/>
            <a:ext cx="9982200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Indoor robots need to navigate from a starting point to a destination without human intervention.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Indoor environments may contain static and dynamic obstacles.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robot needs to find the shortest and most efficient path to the destination.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Unexpected obstacles can block the robot's planned path.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robot must detect obstacles in real time using an ultrasonic sensor.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When an obstacle is detected, the robot should stop and recalculate a safe path.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system should provide fast, accurate, reliable, and collision-free navigation in indoor environments such as hospitals, warehouses, and offices.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pic>
        <p:nvPicPr>
          <p:cNvPr id="5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651" y="609600"/>
            <a:ext cx="3806697" cy="492443"/>
          </a:xfrm>
        </p:spPr>
        <p:txBody>
          <a:bodyPr/>
          <a:lstStyle/>
          <a:p>
            <a:r>
              <a:rPr lang="en-IN" dirty="0"/>
              <a:t>Literature Review</a:t>
            </a:r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24001"/>
          <a:ext cx="10439399" cy="511060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10449"/>
                <a:gridCol w="2336404"/>
                <a:gridCol w="2276122"/>
                <a:gridCol w="2458212"/>
                <a:gridCol w="2458212"/>
              </a:tblGrid>
              <a:tr h="497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S. No.</a:t>
                      </a:r>
                      <a:endParaRPr lang="en-IN" sz="14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Author / Year</a:t>
                      </a:r>
                      <a:endParaRPr lang="en-IN" sz="1400" b="1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Research Focus</a:t>
                      </a:r>
                      <a:endParaRPr lang="en-IN" sz="1400" b="1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Method / Algorithm</a:t>
                      </a:r>
                      <a:endParaRPr lang="en-IN" sz="14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Limitation / Research Gap</a:t>
                      </a:r>
                      <a:endParaRPr lang="en-IN" sz="14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</a:tr>
              <a:tr h="803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Hart, Nilsson &amp; Raphael (1968)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Heuristic-based path planning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A* Search Algorithm</a:t>
                      </a:r>
                      <a:endParaRPr lang="en-IN" sz="1400" b="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Traditional A* assumes a relatively stable environment and does not directly handle moving obstacles.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</a:tr>
              <a:tr h="6854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Fox, Burgard &amp; Thrun (1997)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Real-time collision avoidance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Dynamic Window Approach (DWA)</a:t>
                      </a:r>
                      <a:endParaRPr lang="en-IN" sz="1400" b="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Primarily acts as a local planner and may not provide the most efficient global route by itself.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</a:tr>
              <a:tr h="8669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Rafai (2022)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Path planning and obstacle avoidance for autonomous robots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A*, APF, DWA and other approaches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Individual algorithms have limitations in complex and dynamic environments.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</a:tr>
              <a:tr h="806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4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Recent research (2024–2025)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Navigation in dynamic environments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Hybrid global and local planning</a:t>
                      </a:r>
                      <a:endParaRPr lang="en-IN" sz="1400" b="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Increased algorithmic complexity and computational requirements.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</a:tr>
              <a:tr h="7459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Recent research (2026)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Global path planning and dynamic obstacle avoidance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Improved A* + DWA</a:t>
                      </a:r>
                      <a:endParaRPr lang="en-IN" sz="1400" b="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Requires careful parameter tuning and real-time computation.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</a:tr>
              <a:tr h="60416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6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Recent research (2026)</a:t>
                      </a:r>
                      <a:endParaRPr lang="en-IN" sz="140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Indoor dynamic obstacle avoidance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Deep Reinforcement Learning</a:t>
                      </a:r>
                      <a:endParaRPr lang="en-IN" sz="1400" b="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Requires training data, computational resources, and safety validation.</a:t>
                      </a:r>
                      <a:endParaRPr lang="en-IN" sz="1400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L="7206" marR="7206" marT="3603" marB="3603" anchor="ctr"/>
                </a:tc>
              </a:tr>
            </a:tbl>
          </a:graphicData>
        </a:graphic>
      </p:graphicFrame>
      <p:pic>
        <p:nvPicPr>
          <p:cNvPr id="8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pic>
        <p:nvPicPr>
          <p:cNvPr id="10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635" y="560070"/>
            <a:ext cx="3782060" cy="542290"/>
          </a:xfrm>
        </p:spPr>
        <p:txBody>
          <a:bodyPr>
            <a:noAutofit/>
          </a:bodyPr>
          <a:lstStyle/>
          <a:p>
            <a:pPr algn="ctr"/>
            <a:r>
              <a:rPr lang="en-IN" dirty="0"/>
              <a:t>Methodology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143000" y="1754022"/>
            <a:ext cx="78486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Represent the indoor environment using a grid-based map.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 A* Search to find the shortest and efficient path.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 sensors to detect obstacles in real time.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Update the map when a dynamic obstacle is detected.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Recalculate the path using A* to avoid the obstacle.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Continue navigation until the robot reaches the destination.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pic>
        <p:nvPicPr>
          <p:cNvPr id="9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2651" y="447040"/>
            <a:ext cx="3806697" cy="492443"/>
          </a:xfrm>
        </p:spPr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pic>
        <p:nvPicPr>
          <p:cNvPr id="1026" name="Picture 2" descr="C:\Users\vvc\Downloads\ChatGPT Image Jul 28, 2026, 10_40_21 AM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190722"/>
            <a:ext cx="9144000" cy="5514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5" name="object 3" descr="assets/institute_logo.jp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05146" y="142972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72740" y="350520"/>
            <a:ext cx="5126990" cy="61468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Components</a:t>
            </a:r>
            <a:r>
              <a:rPr spc="-175" dirty="0"/>
              <a:t> </a:t>
            </a:r>
            <a:r>
              <a:rPr spc="-10" dirty="0"/>
              <a:t>Required</a:t>
            </a:r>
            <a:endParaRPr spc="-10" dirty="0"/>
          </a:p>
        </p:txBody>
      </p:sp>
      <p:sp>
        <p:nvSpPr>
          <p:cNvPr id="5" name="object 5"/>
          <p:cNvSpPr txBox="1"/>
          <p:nvPr/>
        </p:nvSpPr>
        <p:spPr>
          <a:xfrm>
            <a:off x="8406130" y="1753806"/>
            <a:ext cx="2727960" cy="22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1350">
              <a:latin typeface="Calibri"/>
              <a:cs typeface="Calibri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56000" y="2170747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Aft>
                <a:spcPct val="60000"/>
              </a:spcAft>
            </a:pPr>
            <a:r>
              <a:rPr lang="en-US" altLang="zh-CN" sz="1600" b="1" i="0">
                <a:solidFill>
                  <a:srgbClr val="FFFFFF"/>
                </a:solidFill>
              </a:rPr>
              <a:t>Components Required</a:t>
            </a:r>
            <a:endParaRPr lang="en-US" altLang="zh-CN" sz="1600" b="1" i="0">
              <a:solidFill>
                <a:srgbClr val="FFFFFF"/>
              </a:solidFill>
            </a:endParaRPr>
          </a:p>
        </p:txBody>
      </p:sp>
      <p:graphicFrame>
        <p:nvGraphicFramePr>
          <p:cNvPr id="4" name="Table 3"/>
          <p:cNvGraphicFramePr/>
          <p:nvPr/>
        </p:nvGraphicFramePr>
        <p:xfrm>
          <a:off x="981668" y="1352039"/>
          <a:ext cx="7010400" cy="52561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8214"/>
                <a:gridCol w="1446205"/>
                <a:gridCol w="1124896"/>
                <a:gridCol w="3791085"/>
              </a:tblGrid>
              <a:tr h="375436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S.No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Component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Quantity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Purpose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65701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Arduino</a:t>
                      </a:r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Uno / ESP32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Acts as the main controller to process sensor data and control the robot.</a:t>
                      </a:r>
                      <a:endParaRPr lang="en-US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93859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HC-SR04 Ultrasonic Sensor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Detects obstacles by measuring the distance between the robot and nearby objects.</a:t>
                      </a:r>
                      <a:endParaRPr 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65701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3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L298N Motor Driver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Controls the direction and speed of the DC motors.</a:t>
                      </a:r>
                      <a:endParaRPr 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657013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4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DC Geared Motors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2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Provides movement to the robot by driving the wheels.</a:t>
                      </a:r>
                      <a:endParaRPr 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65701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5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Li-ion Battery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Supplies power to the Arduino, motor driver, and motors.</a:t>
                      </a:r>
                      <a:endParaRPr lang="en-US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65701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6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Breadboard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1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Allows easy prototyping and circuit connections without soldering.</a:t>
                      </a:r>
                      <a:endParaRPr lang="en-US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  <a:tr h="65701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7</a:t>
                      </a:r>
                      <a:endParaRPr lang="en-IN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Jumper Wires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As required</a:t>
                      </a:r>
                      <a:endParaRPr lang="en-IN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Connects all electronic components together.</a:t>
                      </a:r>
                      <a:endParaRPr lang="en-US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8277860" y="1516864"/>
            <a:ext cx="2386965" cy="2299970"/>
          </a:xfrm>
          <a:prstGeom prst="rect">
            <a:avLst/>
          </a:prstGeom>
        </p:spPr>
      </p:pic>
      <p:pic>
        <p:nvPicPr>
          <p:cNvPr id="8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9" name="AutoShape 2" descr="Build a Circuit with the HC-SR04 Ultrasonic Sensor | circuito.i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0" name="AutoShape 4" descr="Build a Circuit with the HC-SR04 Ultrasonic Sensor | circuito.i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1" name="AutoShape 6" descr="Build a Circuit with the HC-SR04 Ultrasonic Sensor | circuito.i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2" name="AutoShape 8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3" name="AutoShape 10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4" name="AutoShape 12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5" name="AutoShape 14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1069975" y="769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6" name="AutoShape 16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1222375" y="922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7" name="AutoShape 18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1374775" y="1074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8" name="AutoShape 20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1527175" y="1227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19" name="AutoShape 22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1679575" y="1379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0" name="AutoShape 24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1831975" y="1531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1" name="AutoShape 26" descr="Buy Ultrasonic Sensor HC SR04 Range Finder Online in INDIA | Robu.in | Robu.in"/>
          <p:cNvSpPr>
            <a:spLocks noChangeAspect="1" noChangeArrowheads="1"/>
          </p:cNvSpPr>
          <p:nvPr/>
        </p:nvSpPr>
        <p:spPr bwMode="auto">
          <a:xfrm>
            <a:off x="1984375" y="1684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2" name="AutoShape 28" descr="C:\Users\vvc\AppData\Local\Temp\{E2DDF5F3-9042-4A2C-B8AA-77AAFE275A32}.tmp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3" name="AutoShape 30" descr="C:\Users\vvc\AppData\Local\Temp\{E2DDF5F3-9042-4A2C-B8AA-77AAFE275A32}.tmp"/>
          <p:cNvSpPr>
            <a:spLocks noChangeAspect="1" noChangeArrowheads="1"/>
          </p:cNvSpPr>
          <p:nvPr/>
        </p:nvSpPr>
        <p:spPr bwMode="auto">
          <a:xfrm>
            <a:off x="215900" y="158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4" name="AutoShape 32" descr="C:\Users\vvc\AppData\Local\Temp\{E2DDF5F3-9042-4A2C-B8AA-77AAFE275A32}.tmp"/>
          <p:cNvSpPr>
            <a:spLocks noChangeAspect="1" noChangeArrowheads="1"/>
          </p:cNvSpPr>
          <p:nvPr/>
        </p:nvSpPr>
        <p:spPr bwMode="auto">
          <a:xfrm>
            <a:off x="368300" y="1682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25" name="AutoShape 34" descr="C:\Users\vvc\AppData\Local\Temp\{E2DDF5F3-9042-4A2C-B8AA-77AAFE275A32}.tmp"/>
          <p:cNvSpPr>
            <a:spLocks noChangeAspect="1" noChangeArrowheads="1"/>
          </p:cNvSpPr>
          <p:nvPr/>
        </p:nvSpPr>
        <p:spPr bwMode="auto">
          <a:xfrm>
            <a:off x="520700" y="3206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4191000"/>
            <a:ext cx="2143125" cy="2143125"/>
          </a:xfrm>
          <a:prstGeom prst="rect">
            <a:avLst/>
          </a:prstGeom>
        </p:spPr>
      </p:pic>
      <p:pic>
        <p:nvPicPr>
          <p:cNvPr id="28" name="object 2" descr="assets/ses_logo.jpg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926590" y="487045"/>
            <a:ext cx="7311390" cy="549910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marL="504825">
              <a:lnSpc>
                <a:spcPct val="100000"/>
              </a:lnSpc>
              <a:spcBef>
                <a:spcPts val="130"/>
              </a:spcBef>
            </a:pPr>
            <a:r>
              <a:rPr spc="-10" dirty="0">
                <a:latin typeface="+mj-lt"/>
                <a:cs typeface="Times New Roman Regular" panose="02020503050405090304" charset="0"/>
              </a:rPr>
              <a:t>Module</a:t>
            </a:r>
            <a:r>
              <a:rPr lang="en-IN" spc="-10" dirty="0">
                <a:latin typeface="+mj-lt"/>
                <a:cs typeface="Times New Roman Regular" panose="02020503050405090304" charset="0"/>
              </a:rPr>
              <a:t>-1 :</a:t>
            </a:r>
            <a:r>
              <a:rPr lang="en-US" dirty="0">
                <a:latin typeface="+mj-lt"/>
                <a:cs typeface="Times New Roman" panose="02020503050405090304" pitchFamily="18" charset="0"/>
              </a:rPr>
              <a:t> Environment Mapping</a:t>
            </a:r>
            <a:r>
              <a:rPr lang="en-IN" spc="-10" dirty="0">
                <a:latin typeface="+mj-lt"/>
                <a:cs typeface="Times New Roman Regular" panose="02020503050405090304" charset="0"/>
              </a:rPr>
              <a:t> </a:t>
            </a:r>
            <a:endParaRPr spc="-10" dirty="0">
              <a:latin typeface="+mj-lt"/>
              <a:cs typeface="Times New Roman Regular" panose="0202050305040509030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5637" y="1600200"/>
            <a:ext cx="10880725" cy="4114800"/>
          </a:xfrm>
          <a:prstGeom prst="rect">
            <a:avLst/>
          </a:prstGeom>
        </p:spPr>
        <p:txBody>
          <a:bodyPr vert="horz" wrap="square" lIns="0" tIns="12700" rIns="0" bIns="0" rtlCol="0">
            <a:noAutofit/>
          </a:bodyPr>
          <a:lstStyle/>
          <a:p>
            <a:endParaRPr lang="en-US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6700" y="1600200"/>
            <a:ext cx="5717540" cy="47707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Purpose:</a:t>
            </a: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understand the robot's surroundings.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Description: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HC-SR04 ultrasonic sensor scans the surroundings.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detects obstacles present around the robot.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detected information is used to create a simple map.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map identifies free areas and blocked areas.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map is provided to the path-planning module for finding a suitable route.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895" y="1981200"/>
            <a:ext cx="6047105" cy="36823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6575" y="426720"/>
            <a:ext cx="5686425" cy="513080"/>
          </a:xfrm>
        </p:spPr>
        <p:txBody>
          <a:bodyPr>
            <a:noAutofit/>
          </a:bodyPr>
          <a:lstStyle/>
          <a:p>
            <a:r>
              <a:rPr lang="en-US" dirty="0">
                <a:latin typeface="+mj-lt"/>
                <a:cs typeface="Times New Roman" panose="02020503050405090304" pitchFamily="18" charset="0"/>
              </a:rPr>
              <a:t>Module 2: Path Planning</a:t>
            </a:r>
            <a:endParaRPr lang="en-IN" dirty="0">
              <a:latin typeface="+mj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2400" y="1752600"/>
            <a:ext cx="5798185" cy="4368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Purpose: </a:t>
            </a: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To find the best path to the destination.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Description:</a:t>
            </a:r>
            <a:endParaRPr lang="en-IN" sz="18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system uses the A Search Algorithm*. 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A* calculates a path from the starting point to the destination. 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uses heuristic search to select an efficient route. 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robot follows the selected path to reach the destination. </a:t>
            </a:r>
            <a:endParaRPr lang="en-IN" sz="18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81000"/>
            <a:ext cx="1057275" cy="1047750"/>
          </a:xfrm>
          <a:prstGeom prst="rect">
            <a:avLst/>
          </a:prstGeom>
        </p:spPr>
      </p:pic>
      <p:pic>
        <p:nvPicPr>
          <p:cNvPr id="5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676400"/>
            <a:ext cx="5866765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1240" y="369570"/>
            <a:ext cx="7755255" cy="504190"/>
          </a:xfrm>
        </p:spPr>
        <p:txBody>
          <a:bodyPr>
            <a:noAutofit/>
          </a:bodyPr>
          <a:lstStyle/>
          <a:p>
            <a:r>
              <a:rPr lang="en-US" dirty="0">
                <a:latin typeface="+mj-lt"/>
                <a:cs typeface="Times New Roman" panose="02020503050405090304" pitchFamily="18" charset="0"/>
              </a:rPr>
              <a:t>Module 3: Dynamic Obstacle Avoidance</a:t>
            </a:r>
            <a:endParaRPr lang="en-IN" dirty="0">
              <a:latin typeface="+mj-lt"/>
            </a:endParaRPr>
          </a:p>
        </p:txBody>
      </p:sp>
      <p:pic>
        <p:nvPicPr>
          <p:cNvPr id="6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3670" y="1443355"/>
            <a:ext cx="8091170" cy="4709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Purpose:</a:t>
            </a: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To safely handle unexpected or moving obstacles.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Description: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ultrasonic sensor continuously monitors the robot's path.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If a new or moving obstacle is detected, the robot immediately stops.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environment information is updated.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A* recalculates a new safe path.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robot then moves around the obstacle and continues toward the destination.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40" y="1840865"/>
            <a:ext cx="3553460" cy="39433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00050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Working</a:t>
            </a:r>
            <a:r>
              <a:rPr spc="-140" dirty="0"/>
              <a:t> </a:t>
            </a:r>
            <a:r>
              <a:rPr spc="-10" dirty="0"/>
              <a:t>Principle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838200" y="1559560"/>
            <a:ext cx="10744200" cy="5146040"/>
          </a:xfrm>
          <a:prstGeom prst="rect">
            <a:avLst/>
          </a:prstGeom>
        </p:spPr>
        <p:txBody>
          <a:bodyPr vert="horz" wrap="square" lIns="0" tIns="15875" rIns="0" bIns="0" rtlCol="0">
            <a:no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Environment Sensing: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HC-SR04 ultrasonic sensor continuously measures the distance between the robot and nearby objects to detect obstacles in its path.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Path Planning: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A* Search Algorithm calculates the shortest and most efficient path from the starting point to the destination using the generated map.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Robot Movement: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</a:t>
            </a:r>
            <a:r>
              <a:rPr lang="en-US" sz="2000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Arduino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/ESP32 processes the path information and controls the L298N motor driver to move the DC motors in the required direction.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Dynamic Obstacle Avoidance: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If an obstacle is detected within the safe distance (20 cm), the robot stops, updates the environment information, and recalculates a new path to avoid the obstacle.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Destination Reached:</a:t>
            </a:r>
            <a:r>
              <a:rPr lang="en-US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robot continues navigating by following the updated path until it reaches the destination safely with high accuracy and without collisions.</a:t>
            </a:r>
            <a:endParaRPr lang="en-US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5" name="object 3" descr="assets/institute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pic>
        <p:nvPicPr>
          <p:cNvPr id="7" name="object 2" descr="assets/ses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9445" y="680085"/>
            <a:ext cx="4758055" cy="559435"/>
          </a:xfrm>
        </p:spPr>
        <p:txBody>
          <a:bodyPr>
            <a:noAutofit/>
          </a:bodyPr>
          <a:lstStyle/>
          <a:p>
            <a:r>
              <a:rPr lang="en-IN" dirty="0"/>
              <a:t>Results &amp; Discussion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1139890" y="1754022"/>
            <a:ext cx="104394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robot successfully navigates from the start point to the destination.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A* generates an efficient obstacle-free path.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Sensors successfully detect dynamic obstacles.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robot can recalculate its path when obstacles appear.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system improves navigation efficiency and safety.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approach is suitable for indoor autonomous robots.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7" name="object 2" descr="assets/ses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9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8435" y="631190"/>
            <a:ext cx="5661660" cy="1047750"/>
          </a:xfrm>
        </p:spPr>
        <p:txBody>
          <a:bodyPr>
            <a:noAutofit/>
          </a:bodyPr>
          <a:lstStyle/>
          <a:p>
            <a:r>
              <a:rPr lang="en-IN" dirty="0"/>
              <a:t>Challenges &amp; Limitations</a:t>
            </a:r>
            <a:endParaRPr lang="en-IN" dirty="0"/>
          </a:p>
        </p:txBody>
      </p:sp>
      <p:pic>
        <p:nvPicPr>
          <p:cNvPr id="5" name="object 2" descr="assets/ses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7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19200" y="1828800"/>
            <a:ext cx="8000222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Sensor accuracy can affect obstacle detection.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Ultrasonic sensors have a limited detection range.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Large maps may require more processing time.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Frequent obstacles require repeated path recalculation.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Robot movement may be affected by wheel slipping.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system depends on an accurate indoor map.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9175" y="539750"/>
            <a:ext cx="3906520" cy="638810"/>
          </a:xfrm>
        </p:spPr>
        <p:txBody>
          <a:bodyPr>
            <a:noAutofit/>
          </a:bodyPr>
          <a:lstStyle/>
          <a:p>
            <a:r>
              <a:rPr lang="en-IN" dirty="0"/>
              <a:t>Future Scope</a:t>
            </a:r>
            <a:endParaRPr lang="en-IN" dirty="0"/>
          </a:p>
        </p:txBody>
      </p:sp>
      <p:pic>
        <p:nvPicPr>
          <p:cNvPr id="4" name="object 2" descr="assets/ses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6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400" y="1676400"/>
            <a:ext cx="7376795" cy="40100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Integrate AI-based object and person detection.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Use LiDAR and SLAM for better mapping.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Add machine learning for intelligent navigation.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Implement voice-controlled destination selection.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Support multiple robots in the same environment.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Develop advanced navigation using reinforcement learning.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3" name="Picture 2"/>
          <p:cNvPicPr/>
          <p:nvPr/>
        </p:nvPicPr>
        <p:blipFill>
          <a:blip r:embed="rId3"/>
          <a:stretch>
            <a:fillRect/>
          </a:stretch>
        </p:blipFill>
        <p:spPr>
          <a:xfrm>
            <a:off x="7258685" y="1752600"/>
            <a:ext cx="4702175" cy="34207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2711" y="820578"/>
            <a:ext cx="2360549" cy="492443"/>
          </a:xfrm>
        </p:spPr>
        <p:txBody>
          <a:bodyPr/>
          <a:lstStyle/>
          <a:p>
            <a:r>
              <a:rPr lang="en-IN" dirty="0"/>
              <a:t>Conclusion</a:t>
            </a:r>
            <a:endParaRPr lang="en-IN" dirty="0"/>
          </a:p>
        </p:txBody>
      </p:sp>
      <p:pic>
        <p:nvPicPr>
          <p:cNvPr id="4" name="object 2" descr="assets/ses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90500" y="104872"/>
            <a:ext cx="952500" cy="961928"/>
          </a:xfrm>
          <a:prstGeom prst="rect">
            <a:avLst/>
          </a:prstGeom>
        </p:spPr>
      </p:pic>
      <p:pic>
        <p:nvPicPr>
          <p:cNvPr id="6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" y="2057400"/>
            <a:ext cx="9220200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A* provides an efficient path-planning solution.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Dynamic obstacle detection makes navigation safer and more flexible.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robot can adapt to changing indoor environments.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system reduces the need for human intervention.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can be applied in homes, hospitals, offices, and warehouses. 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project provides a foundation for advanced autonomous robots.</a:t>
            </a:r>
            <a:endParaRPr lang="en-IN" sz="24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4095" y="519430"/>
            <a:ext cx="3075305" cy="532130"/>
          </a:xfrm>
        </p:spPr>
        <p:txBody>
          <a:bodyPr>
            <a:noAutofit/>
          </a:bodyPr>
          <a:lstStyle/>
          <a:p>
            <a:r>
              <a:rPr lang="en-IN" dirty="0"/>
              <a:t>References</a:t>
            </a: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447800"/>
            <a:ext cx="10972800" cy="5536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Zhang, L., Zhang, Y., Zeng, M., &amp; Li, Y. (2021). Robot navigation based on improved A* algorithm in dynamic environment. Assembly Automation, 41(4), 419–432.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Li, P., Hao, L., Zhao, Y., &amp; Lu, J. (2024). Robot obstacle avoidance optimization by A* and DWA fusion algorithm. PLOS ONE, 19(4), e0302026.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Bao, H., Fang, J., Wang, C., Li, Z., Zhang, J., Wang, C., &amp; Zhang, J. (2023). Research on static/dynamic global path planning based on improved A* algorithm for mobile robots. Journal of Robotics, 2023, Article 5098156.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Yang, H., &amp; Teng, X. (2022). Mobile robot path planning based on enhanced dynamic window approach and improved A* algorithm. Journal of Robotics, 2022, Article 2183229.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503050405090304" pitchFamily="18" charset="0"/>
                <a:cs typeface="Times New Roman" panose="02020503050405090304" pitchFamily="18" charset="0"/>
              </a:rPr>
              <a:t>Jiang, Z., Wang, W., Sun, W., &amp; Da, L. (2023). Path planning method for mobile robot based on a hybrid algorithm. Journal of Intelligent &amp; Robotic Systems, 109, Article 47. </a:t>
            </a:r>
            <a:endParaRPr lang="en-IN" sz="2000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pic>
        <p:nvPicPr>
          <p:cNvPr id="8" name="object 2" descr="assets/ses_logo.jp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52400" y="323850"/>
            <a:ext cx="952500" cy="961928"/>
          </a:xfrm>
          <a:prstGeom prst="rect">
            <a:avLst/>
          </a:prstGeom>
        </p:spPr>
      </p:pic>
      <p:pic>
        <p:nvPicPr>
          <p:cNvPr id="10" name="object 3" descr="assets/institute_logo.jp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5175" y="323850"/>
            <a:ext cx="1057275" cy="1047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67000" y="914400"/>
            <a:ext cx="8839200" cy="4191000"/>
          </a:xfrm>
        </p:spPr>
        <p:txBody>
          <a:bodyPr>
            <a:noAutofit/>
          </a:bodyPr>
          <a:lstStyle/>
          <a:p>
            <a:endParaRPr lang="en-US" sz="8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8000" dirty="0">
                <a:latin typeface="Times New Roman Regular" panose="02020503050405090304" charset="0"/>
                <a:cs typeface="Times New Roman Regular" panose="02020503050405090304" charset="0"/>
              </a:rPr>
              <a:t>THANK </a:t>
            </a:r>
            <a:endParaRPr lang="en-US" sz="8000" dirty="0">
              <a:latin typeface="Times New Roman Regular" panose="02020503050405090304" charset="0"/>
              <a:cs typeface="Times New Roman Regular" panose="02020503050405090304" charset="0"/>
            </a:endParaRPr>
          </a:p>
          <a:p>
            <a:r>
              <a:rPr lang="en-US" sz="8000" dirty="0">
                <a:latin typeface="Times New Roman Regular" panose="02020503050405090304" charset="0"/>
                <a:cs typeface="Times New Roman Regular" panose="02020503050405090304" charset="0"/>
              </a:rPr>
              <a:t>              YOU…..</a:t>
            </a:r>
            <a:endParaRPr lang="en-US" sz="8000" dirty="0">
              <a:latin typeface="Times New Roman Regular" panose="02020503050405090304" charset="0"/>
              <a:cs typeface="Times New Roman Regular" panose="0202050305040509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8576</Words>
  <Application>WPS Writer</Application>
  <PresentationFormat>Widescreen</PresentationFormat>
  <Paragraphs>274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Helvetica Neue</vt:lpstr>
      <vt:lpstr>Times New Roman Regular</vt:lpstr>
      <vt:lpstr>Times New Roman</vt:lpstr>
      <vt:lpstr>Microsoft YaHei</vt:lpstr>
      <vt:lpstr>汉仪旗黑</vt:lpstr>
      <vt:lpstr>Arial Unicode MS</vt:lpstr>
      <vt:lpstr>Calibri</vt:lpstr>
      <vt:lpstr>宋体-简</vt:lpstr>
      <vt:lpstr>Office Theme</vt:lpstr>
      <vt:lpstr>AI-Based Indoor Robot Navigation Using A* Search and Dynamic Obstacle Avoidance</vt:lpstr>
      <vt:lpstr>Introduction</vt:lpstr>
      <vt:lpstr>Objective</vt:lpstr>
      <vt:lpstr>Problem Statement</vt:lpstr>
      <vt:lpstr>Literature Review</vt:lpstr>
      <vt:lpstr>Methodology</vt:lpstr>
      <vt:lpstr>Block Diagram</vt:lpstr>
      <vt:lpstr>Components Required</vt:lpstr>
      <vt:lpstr>Module-1 : Environment Mapping </vt:lpstr>
      <vt:lpstr>Module 2: Path Planning</vt:lpstr>
      <vt:lpstr>Module 3: Dynamic Obstacle Avoidance</vt:lpstr>
      <vt:lpstr>Working Principle</vt:lpstr>
      <vt:lpstr>Results &amp; Discussion</vt:lpstr>
      <vt:lpstr>Challenges &amp; Limitations</vt:lpstr>
      <vt:lpstr>Future Scope</vt:lpstr>
      <vt:lpstr>Conclusion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Smart Home Controller_x000d_using Reinforcement Learning</dc:title>
  <dc:creator>Sireesha</dc:creator>
  <cp:lastModifiedBy>Madhulika Vanjavaka</cp:lastModifiedBy>
  <cp:revision>17</cp:revision>
  <dcterms:created xsi:type="dcterms:W3CDTF">2026-09-02T03:44:23Z</dcterms:created>
  <dcterms:modified xsi:type="dcterms:W3CDTF">2026-09-02T03:44:23Z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2026-07-21T16:30:00Z</vt:filetime>
  </property>
  <property fmtid="{D5CDD505-2E9C-101B-9397-08002B2CF9AE}" pid="4" name="LastSaved">
    <vt:filetime>2026-07-21T16:30:00Z</vt:filetime>
  </property>
  <property fmtid="{D5CDD505-2E9C-101B-9397-08002B2CF9AE}" pid="5" name="ICV">
    <vt:lpwstr>B2AF12306908A9F9269B976A9ECA7296_43</vt:lpwstr>
  </property>
  <property fmtid="{D5CDD505-2E9C-101B-9397-08002B2CF9AE}" pid="6" name="KSOProductBuildVer">
    <vt:lpwstr>1033-6.12.2.8699</vt:lpwstr>
  </property>
</Properties>
</file>